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067" y="177206"/>
            <a:ext cx="1862826" cy="188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0040" y="2197894"/>
            <a:ext cx="2232660" cy="707886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72A52"/>
                </a:solidFill>
                <a:latin typeface="+mj-lt"/>
              </a:rPr>
              <a:t>RAMDEOBABA</a:t>
            </a:r>
            <a:br>
              <a:rPr sz="2000">
                <a:latin typeface="+mj-lt"/>
              </a:rPr>
            </a:br>
            <a:r>
              <a:rPr sz="2000">
                <a:solidFill/>
                <a:latin typeface="+mj-lt"/>
              </a:rPr>
              <a:t>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121354"/>
            <a:ext cx="1965960" cy="1508105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lang="en-IN" sz="2400" b="1">
                <a:solidFill>
                  <a:srgbClr val="072A52"/>
                </a:solidFill>
                <a:latin typeface="+mj-lt"/>
              </a:rPr>
              <a:t>Idea lab/Honor/</a:t>
            </a:r>
          </a:p>
          <a:p>
            <a:pPr algn="ctr"/>
            <a:r>
              <a:rPr lang="en-IN" sz="2400" b="1">
                <a:solidFill>
                  <a:srgbClr val="072A52"/>
                </a:solidFill>
                <a:latin typeface="+mj-lt"/>
              </a:rPr>
              <a:t>Minor/Major</a:t>
            </a:r>
            <a:br>
              <a:rPr sz="2000">
                <a:latin typeface="+mj-lt"/>
              </a:rPr>
            </a:br>
            <a:endParaRPr sz="2000">
              <a:solidFill/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6120" y="868680"/>
            <a:ext cx="7955279" cy="584775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72A52"/>
                </a:solidFill>
                <a:latin typeface="+mj-lt"/>
              </a:rPr>
              <a:t>PROJECT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3552" y="1444752"/>
            <a:ext cx="7863840" cy="461665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EF6019"/>
                </a:solidFill>
                <a:latin typeface="+mj-lt"/>
              </a:rPr>
              <a:t>Enter the project title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73552" y="1938528"/>
            <a:ext cx="7863840" cy="3200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0" y="6560825"/>
            <a:ext cx="7955279" cy="273320"/>
          </a:xfrm>
          <a:prstGeom prst="rect">
            <a:avLst/>
          </a:prstGeom>
          <a:solidFill>
            <a:srgbClr val="07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955279" y="6562878"/>
            <a:ext cx="4236415" cy="273320"/>
          </a:xfrm>
          <a:prstGeom prst="rect">
            <a:avLst/>
          </a:prstGeom>
          <a:solidFill>
            <a:srgbClr val="EF60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9B445B-D27F-87EF-AD8D-FF266BEF24E0}"/>
              </a:ext>
            </a:extLst>
          </p:cNvPr>
          <p:cNvSpPr txBox="1"/>
          <p:nvPr/>
        </p:nvSpPr>
        <p:spPr>
          <a:xfrm>
            <a:off x="397764" y="4675960"/>
            <a:ext cx="1965960" cy="830997"/>
          </a:xfrm>
          <a:prstGeom prst="rect">
            <a:avLst/>
          </a:prstGeom>
          <a:noFill/>
          <a:ln/>
        </p:spPr>
        <p:txBody>
          <a:bodyPr wrap="square" anchor="t">
            <a:spAutoFit/>
          </a:bodyPr>
          <a:lstStyle/>
          <a:p>
            <a:pPr algn="ctr"/>
            <a:r>
              <a:rPr lang="en-IN" sz="2400" b="1">
                <a:solidFill>
                  <a:srgbClr val="072A52"/>
                </a:solidFill>
                <a:latin typeface="+mj-lt"/>
              </a:rPr>
              <a:t>COURSE CODE</a:t>
            </a:r>
            <a:endParaRPr sz="2400">
              <a:solidFill/>
              <a:latin typeface="+mj-lt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92B9AAD-1625-D059-FD92-B382EE9652A5}"/>
              </a:ext>
            </a:extLst>
          </p:cNvPr>
          <p:cNvCxnSpPr>
            <a:cxnSpLocks/>
          </p:cNvCxnSpPr>
          <p:nvPr/>
        </p:nvCxnSpPr>
        <p:spPr>
          <a:xfrm>
            <a:off x="2657474" y="64008"/>
            <a:ext cx="0" cy="6456664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3EFBA5-23A9-211A-2AA9-0EAE8F62FA46}"/>
              </a:ext>
            </a:extLst>
          </p:cNvPr>
          <p:cNvSpPr txBox="1"/>
          <p:nvPr/>
        </p:nvSpPr>
        <p:spPr>
          <a:xfrm>
            <a:off x="3533986" y="2279493"/>
            <a:ext cx="55569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Members:</a:t>
            </a:r>
          </a:p>
          <a:p>
            <a:pPr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Vaishnavi Singh – 01 </a:t>
            </a:r>
          </a:p>
          <a:p>
            <a:pPr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Vidhita Bais – 05</a:t>
            </a:r>
          </a:p>
          <a:p>
            <a:pPr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Apeksha Sharma – 10</a:t>
            </a:r>
          </a:p>
          <a:p>
            <a:pPr lvl="1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Gunjal Mandawkar – 39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Guided By: 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Dr. M.B Chandak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Director Academics &amp; Professor, Department of CSE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Computer Science &amp; Engineering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Programme: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IDEA Lab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2026–27</a:t>
            </a:r>
          </a:p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72A52"/>
                </a:solidFill>
                <a:latin typeface="+mj-lt"/>
              </a:rP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83960"/>
            <a:ext cx="1246632" cy="12585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0392" y="1728216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728216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" y="3621024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621024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8000" y="6623488"/>
            <a:ext cx="14759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37D"/>
                </a:solidFill>
                <a:latin typeface="Aptos"/>
              </a:defRPr>
            </a:pPr>
            <a:r>
              <a:rPr sz="1200">
                <a:solidFill>
                  <a:schemeClr val="bg1"/>
                </a:solidFill>
              </a:rPr>
              <a:t>02 September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46843" y="6621191"/>
            <a:ext cx="10871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37D"/>
                </a:solidFill>
                <a:latin typeface="Aptos"/>
              </a:defRPr>
            </a:pPr>
            <a:r>
              <a:rPr sz="1400">
                <a:solidFill>
                  <a:schemeClr val="bg1"/>
                </a:solidFill>
                <a:latin typeface="+mj-lt"/>
              </a:rPr>
              <a:t>Slide</a:t>
            </a:r>
            <a:r>
              <a:rPr sz="1400">
                <a:solidFill>
                  <a:schemeClr val="bg1"/>
                </a:solidFill>
              </a:rPr>
              <a:t> 2 of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B5C60C4-AD9A-EBDD-1FD1-4DFA946F9295}"/>
              </a:ext>
            </a:extLst>
          </p:cNvPr>
          <p:cNvSpPr txBox="1"/>
          <p:nvPr/>
        </p:nvSpPr>
        <p:spPr>
          <a:xfrm>
            <a:off x="386669" y="847128"/>
            <a:ext cx="9408751" cy="538609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Problem Statement</a:t>
            </a:r>
          </a:p>
          <a:p>
            <a:pPr lvl="1"/>
            <a:r>
              <a:rPr lang="en-IN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Insurance companies process a large number of claims, making manual fraud investigation slow, costly and difficult to scale.</a:t>
            </a:r>
          </a:p>
          <a:p>
            <a:pPr lvl="1"/>
            <a:endParaRPr lang="en-IN" sz="24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Who is affected?</a:t>
            </a:r>
            <a:endParaRPr lang="en-IN" sz="2400" b="1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Insurance companies                     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Claims adjusters/investigators     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Current</a:t>
            </a:r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challenges</a:t>
            </a:r>
            <a:endParaRPr lang="en-IN" sz="2400" b="1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Manual investigation         </a:t>
            </a:r>
            <a:endParaRPr lang="en-IN" sz="20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Rule-based systems           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Delayed genuine claims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Problem We Address</a:t>
            </a:r>
          </a:p>
          <a:p>
            <a:pPr lvl="1"/>
            <a:r>
              <a:rPr lang="en-IN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How can AI autonomously investigate and triage insurance claims while providing evidence-based, explainable recommendations to human adjusters?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400">
              <a:ea typeface="+mn-lt"/>
              <a:cs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CC3800-E496-BCF1-329A-82DCC00D7CCC}"/>
              </a:ext>
            </a:extLst>
          </p:cNvPr>
          <p:cNvSpPr txBox="1"/>
          <p:nvPr/>
        </p:nvSpPr>
        <p:spPr>
          <a:xfrm>
            <a:off x="5234109" y="3638286"/>
            <a:ext cx="31197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Standalone ML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Low explainability           </a:t>
            </a:r>
            <a:endParaRPr lang="en-IN" sz="20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07E7C2-7C2A-3CEE-5F61-687723CB8BAC}"/>
              </a:ext>
            </a:extLst>
          </p:cNvPr>
          <p:cNvSpPr txBox="1"/>
          <p:nvPr/>
        </p:nvSpPr>
        <p:spPr>
          <a:xfrm>
            <a:off x="4777920" y="2569023"/>
            <a:ext cx="46548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Genuine policyholders</a:t>
            </a:r>
          </a:p>
          <a:p>
            <a:pPr marL="800100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Fraud-risk and compliance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72A52"/>
                </a:solidFill>
                <a:latin typeface="+mj-lt"/>
              </a:rPr>
              <a:t>EXISTING SOLUTION / LITERATURE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08" y="182879"/>
            <a:ext cx="1246632" cy="125854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8952" y="1591056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2779776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968496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90872" y="1453896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EXISTING SOLUTIONS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1272" y="1453896"/>
            <a:ext cx="28254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LIMITATIONS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13AEBE-8C01-8BB4-64F7-2BF9EF05E654}"/>
              </a:ext>
            </a:extLst>
          </p:cNvPr>
          <p:cNvSpPr txBox="1"/>
          <p:nvPr/>
        </p:nvSpPr>
        <p:spPr>
          <a:xfrm>
            <a:off x="713231" y="1173771"/>
            <a:ext cx="10436032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Solutions:  </a:t>
            </a:r>
          </a:p>
          <a:p>
            <a:endParaRPr lang="en-I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Rule-Based Fraud Detection: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Static rules; difficult to detect new fraud patterns.</a:t>
            </a:r>
          </a:p>
          <a:p>
            <a:pPr marL="342900" indent="-342900">
              <a:buAutoNum type="arabicPeriod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Learning-Based Detection: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Provides fraud scores but limited reasoning.</a:t>
            </a:r>
          </a:p>
          <a:p>
            <a:pPr marL="342900" indent="-342900">
              <a:buAutoNum type="arabicPeriod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AI-Based Insurance Pipelines: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Fixed workflows; limited autonomous investigation.</a:t>
            </a:r>
          </a:p>
          <a:p>
            <a:pPr marL="342900" indent="-342900">
              <a:buAutoNum type="arabicPeriod"/>
            </a:pPr>
            <a:r>
              <a:rPr lang="en-I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LLM / Agentic AI: </a:t>
            </a: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Limited insurance-specific fraud detection and evidence verification.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973042B-8F68-C4CA-0651-6A58EB603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20733"/>
              </p:ext>
            </p:extLst>
          </p:nvPr>
        </p:nvGraphicFramePr>
        <p:xfrm>
          <a:off x="1632036" y="3525982"/>
          <a:ext cx="9084732" cy="2897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28244">
                  <a:extLst>
                    <a:ext uri="{9D8B030D-6E8A-4147-A177-3AD203B41FA5}">
                      <a16:colId xmlns:a16="http://schemas.microsoft.com/office/drawing/2014/main" val="291660549"/>
                    </a:ext>
                  </a:extLst>
                </a:gridCol>
                <a:gridCol w="3028244">
                  <a:extLst>
                    <a:ext uri="{9D8B030D-6E8A-4147-A177-3AD203B41FA5}">
                      <a16:colId xmlns:a16="http://schemas.microsoft.com/office/drawing/2014/main" val="3534759097"/>
                    </a:ext>
                  </a:extLst>
                </a:gridCol>
                <a:gridCol w="3028244">
                  <a:extLst>
                    <a:ext uri="{9D8B030D-6E8A-4147-A177-3AD203B41FA5}">
                      <a16:colId xmlns:a16="http://schemas.microsoft.com/office/drawing/2014/main" val="3140016433"/>
                    </a:ext>
                  </a:extLst>
                </a:gridCol>
              </a:tblGrid>
              <a:tr h="451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/>
                          <a:cs typeface="Times New Roman"/>
                        </a:rPr>
                        <a:t>Work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/>
                          <a:cs typeface="Times New Roman"/>
                        </a:rPr>
                        <a:t>Approach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latin typeface="Times New Roman"/>
                          <a:cs typeface="Times New Roman"/>
                        </a:rPr>
                        <a:t>Limitation</a:t>
                      </a:r>
                    </a:p>
                  </a:txBody>
                  <a:tcPr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122251"/>
                  </a:ext>
                </a:extLst>
              </a:tr>
              <a:tr h="451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Devender et al., 2026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Agentic insurance processing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Lacks ML scoring/retrieval/HITL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099084"/>
                  </a:ext>
                </a:extLst>
              </a:tr>
              <a:tr h="451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Khalil et al., 2024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ML fraud detection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No reasoning/retrieval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08409"/>
                  </a:ext>
                </a:extLst>
              </a:tr>
              <a:tr h="451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Dhieb et al., 2020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AI fraud-risk pipeline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Fixed pipeline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6894522"/>
                  </a:ext>
                </a:extLst>
              </a:tr>
              <a:tr h="451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Urunkar et al., 2022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Random Forest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Single classification output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159936"/>
                  </a:ext>
                </a:extLst>
              </a:tr>
              <a:tr h="451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Yao et al., 2022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ReAct agents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/>
                          <a:cs typeface="Times New Roman"/>
                        </a:rPr>
                        <a:t>General-purpose domain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645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72A52"/>
                </a:solidFill>
                <a:latin typeface="+mj-lt"/>
              </a:rPr>
              <a:t>PROPOSED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82879"/>
            <a:ext cx="1328928" cy="13416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59" y="1636776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2825496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4014216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" y="5202936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4288536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INNOVATION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231CC27-52BE-77D1-2DB0-BBBC4C9C8164}"/>
              </a:ext>
            </a:extLst>
          </p:cNvPr>
          <p:cNvSpPr txBox="1"/>
          <p:nvPr/>
        </p:nvSpPr>
        <p:spPr>
          <a:xfrm>
            <a:off x="265175" y="1004275"/>
            <a:ext cx="11401891" cy="495520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/>
                <a:cs typeface="Times New Roman"/>
              </a:rPr>
              <a:t>Project idea</a:t>
            </a:r>
          </a:p>
          <a:p>
            <a:pPr lvl="1"/>
            <a:r>
              <a:rPr lang="en-IN" sz="2000">
                <a:latin typeface="Times New Roman"/>
                <a:ea typeface="+mn-lt"/>
                <a:cs typeface="Times New Roman"/>
              </a:rPr>
              <a:t>AI-powered insurance claims system combining </a:t>
            </a:r>
            <a:r>
              <a:rPr lang="en-IN" sz="2000" b="1">
                <a:latin typeface="Times New Roman"/>
                <a:ea typeface="+mn-lt"/>
                <a:cs typeface="Times New Roman"/>
              </a:rPr>
              <a:t>ML fraud detection + Agentic AI investigation</a:t>
            </a:r>
            <a:r>
              <a:rPr lang="en-IN" sz="2000">
                <a:latin typeface="Times New Roman"/>
                <a:ea typeface="+mn-lt"/>
                <a:cs typeface="Times New Roman"/>
              </a:rPr>
              <a:t>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0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/>
                <a:cs typeface="Times New Roman"/>
              </a:rPr>
              <a:t>Proposed approach</a:t>
            </a:r>
            <a:endParaRPr lang="en-IN" sz="2400" b="1">
              <a:latin typeface="Times New Roman"/>
              <a:ea typeface="Calibri"/>
              <a:cs typeface="Times New Roman"/>
            </a:endParaRPr>
          </a:p>
          <a:p>
            <a:pPr lvl="1"/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Claim → Fraud Score → Investigation → Evidence → Reasoning → Recommendation → Human Decision</a:t>
            </a:r>
          </a:p>
          <a:p>
            <a:pPr lvl="1"/>
            <a:endParaRPr lang="en-IN" sz="2000"/>
          </a:p>
          <a:p>
            <a:pPr lvl="1"/>
            <a:r>
              <a:rPr lang="en-IN" sz="2400" b="1">
                <a:latin typeface="Times New Roman"/>
                <a:cs typeface="Times New Roman"/>
              </a:rPr>
              <a:t>Key innovation</a:t>
            </a:r>
            <a:endParaRPr lang="en-IN" sz="2400" b="1">
              <a:latin typeface="Times New Roman"/>
              <a:ea typeface="Calibri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>
                <a:ea typeface="+mn-lt"/>
                <a:cs typeface="+mn-lt"/>
              </a:rPr>
              <a:t>ML + Agentic AI</a:t>
            </a:r>
            <a:r>
              <a:rPr lang="en-IN" sz="2000">
                <a:latin typeface="Times New Roman"/>
                <a:ea typeface="+mn-lt"/>
                <a:cs typeface="Times New Roman"/>
              </a:rPr>
              <a:t>                    Explains </a:t>
            </a:r>
            <a:r>
              <a:rPr lang="en-IN" sz="2000" b="1">
                <a:latin typeface="Times New Roman"/>
                <a:ea typeface="+mn-lt"/>
                <a:cs typeface="Times New Roman"/>
              </a:rPr>
              <a:t>why</a:t>
            </a:r>
            <a:r>
              <a:rPr lang="en-IN" sz="2000">
                <a:latin typeface="Times New Roman"/>
                <a:ea typeface="+mn-lt"/>
                <a:cs typeface="Times New Roman"/>
              </a:rPr>
              <a:t> a claim is suspicious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>
                <a:ea typeface="+mn-lt"/>
                <a:cs typeface="+mn-lt"/>
              </a:rPr>
              <a:t>Autonomous investigation &amp; evidence retrieval</a:t>
            </a:r>
            <a:r>
              <a:rPr lang="en-IN" sz="2000">
                <a:latin typeface="Times New Roman"/>
                <a:ea typeface="+mn-lt"/>
                <a:cs typeface="Times New Roman"/>
              </a:rPr>
              <a:t>     Suggests the next 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N" sz="20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>
                <a:latin typeface="Times New Roman"/>
                <a:cs typeface="Times New Roman"/>
              </a:rPr>
              <a:t>Expected outcome</a:t>
            </a:r>
          </a:p>
          <a:p>
            <a:pPr marL="742950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/>
                <a:ea typeface="+mn-lt"/>
                <a:cs typeface="Times New Roman"/>
              </a:rPr>
              <a:t> </a:t>
            </a:r>
            <a:r>
              <a:rPr lang="en-IN" sz="2000">
                <a:latin typeface="Times New Roman"/>
                <a:ea typeface="+mn-lt"/>
                <a:cs typeface="Times New Roman"/>
              </a:rPr>
              <a:t>Approve 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/>
                <a:ea typeface="+mn-lt"/>
                <a:cs typeface="Times New Roman"/>
              </a:rPr>
              <a:t> Flag for Investigation 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000">
                <a:latin typeface="Times New Roman"/>
                <a:ea typeface="+mn-lt"/>
                <a:cs typeface="Times New Roman"/>
              </a:rPr>
              <a:t> Request More Information</a:t>
            </a:r>
            <a:endParaRPr lang="en-IN" sz="2000">
              <a:latin typeface="Times New Roman"/>
              <a:ea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72A52"/>
                </a:solidFill>
                <a:latin typeface="+mj-lt"/>
              </a:rPr>
              <a:t>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106319"/>
            <a:ext cx="1383486" cy="139670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2959" y="5614416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5056631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4096511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15400" y="313639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2176272"/>
            <a:ext cx="56692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C38FF9C-876C-38BE-19DD-9CD70C1AB6BE}"/>
              </a:ext>
            </a:extLst>
          </p:cNvPr>
          <p:cNvSpPr txBox="1"/>
          <p:nvPr/>
        </p:nvSpPr>
        <p:spPr>
          <a:xfrm>
            <a:off x="82603" y="1095095"/>
            <a:ext cx="12374268" cy="51090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2000" b="1">
                <a:latin typeface="Times New Roman"/>
                <a:cs typeface="Times New Roman"/>
              </a:rPr>
              <a:t>1  Fraud Prediction</a:t>
            </a:r>
            <a:endParaRPr lang="en-IN" sz="2000" b="1">
              <a:latin typeface="Times New Roman"/>
              <a:ea typeface="Calibri"/>
              <a:cs typeface="Times New Roman"/>
            </a:endParaRPr>
          </a:p>
          <a:p>
            <a:r>
              <a:rPr lang="en-IN">
                <a:latin typeface="Times New Roman"/>
                <a:ea typeface="+mn-lt"/>
                <a:cs typeface="Times New Roman"/>
              </a:rPr>
              <a:t>    Develop an ML/DL model to estimate the probability of insurance claim fraud.</a:t>
            </a:r>
          </a:p>
          <a:p>
            <a:endParaRPr lang="en-IN">
              <a:latin typeface="Times New Roman"/>
              <a:cs typeface="Times New Roman"/>
            </a:endParaRPr>
          </a:p>
          <a:p>
            <a:r>
              <a:rPr lang="en-IN" sz="2000" b="1">
                <a:latin typeface="Times New Roman"/>
                <a:cs typeface="Times New Roman"/>
              </a:rPr>
              <a:t>2  Autonomous Investigation</a:t>
            </a:r>
          </a:p>
          <a:p>
            <a:r>
              <a:rPr lang="en-IN">
                <a:latin typeface="Times New Roman"/>
                <a:ea typeface="+mn-lt"/>
                <a:cs typeface="Times New Roman"/>
              </a:rPr>
              <a:t>    Design an LLM-based agentic orchestrator that can plan and execute multi-step claim-triage tasks using tools.</a:t>
            </a:r>
          </a:p>
          <a:p>
            <a:endParaRPr lang="en-IN">
              <a:latin typeface="Times New Roman"/>
              <a:cs typeface="Times New Roman"/>
            </a:endParaRPr>
          </a:p>
          <a:p>
            <a:r>
              <a:rPr lang="en-IN" sz="2000" b="1">
                <a:latin typeface="Times New Roman"/>
                <a:cs typeface="Times New Roman"/>
              </a:rPr>
              <a:t>3</a:t>
            </a:r>
            <a:r>
              <a:rPr lang="en-IN">
                <a:latin typeface="Times New Roman"/>
                <a:cs typeface="Times New Roman"/>
              </a:rPr>
              <a:t> </a:t>
            </a:r>
            <a:r>
              <a:rPr lang="en-IN" sz="2000" b="1">
                <a:latin typeface="Times New Roman"/>
                <a:cs typeface="Times New Roman"/>
              </a:rPr>
              <a:t> Evidence-Based Decision Support</a:t>
            </a:r>
          </a:p>
          <a:p>
            <a:r>
              <a:rPr lang="en-IN">
                <a:latin typeface="Times New Roman"/>
                <a:ea typeface="+mn-lt"/>
                <a:cs typeface="Times New Roman"/>
              </a:rPr>
              <a:t>    Implement similar-claim retrieval, policy/history verification and explainable reasoning to generate structured recommendations.</a:t>
            </a:r>
          </a:p>
          <a:p>
            <a:endParaRPr lang="en-IN">
              <a:latin typeface="Times New Roman"/>
              <a:cs typeface="Times New Roman"/>
            </a:endParaRPr>
          </a:p>
          <a:p>
            <a:r>
              <a:rPr lang="en-IN" sz="2000" b="1">
                <a:latin typeface="Times New Roman"/>
                <a:cs typeface="Times New Roman"/>
              </a:rPr>
              <a:t>4  Human-in-the-Loop System</a:t>
            </a:r>
          </a:p>
          <a:p>
            <a:r>
              <a:rPr lang="en-IN">
                <a:latin typeface="Times New Roman"/>
                <a:ea typeface="+mn-lt"/>
                <a:cs typeface="Times New Roman"/>
              </a:rPr>
              <a:t>    Develop a lightweight dashboard </a:t>
            </a:r>
            <a:r>
              <a:rPr lang="en-US">
                <a:latin typeface="Times New Roman"/>
                <a:ea typeface="+mn-lt"/>
                <a:cs typeface="Times New Roman"/>
              </a:rPr>
              <a:t>that allows adjusters to review, approve, modify, override, and provide feedback on AI </a:t>
            </a:r>
            <a:r>
              <a:rPr lang="en-IN">
                <a:latin typeface="Times New Roman"/>
                <a:ea typeface="+mn-lt"/>
                <a:cs typeface="Times New Roman"/>
              </a:rPr>
              <a:t>recommendations</a:t>
            </a:r>
            <a:r>
              <a:rPr lang="en-IN" sz="2000" b="1">
                <a:latin typeface="Times New Roman"/>
                <a:ea typeface="+mn-lt"/>
                <a:cs typeface="Times New Roman"/>
              </a:rPr>
              <a:t>.</a:t>
            </a:r>
          </a:p>
          <a:p>
            <a:endParaRPr lang="en-IN" sz="2000" b="1">
              <a:latin typeface="Times New Roman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>
                <a:latin typeface="Times New Roman"/>
                <a:cs typeface="Times New Roman"/>
              </a:rPr>
              <a:t>Expected Target</a:t>
            </a:r>
          </a:p>
          <a:p>
            <a:r>
              <a:rPr lang="en-IN">
                <a:latin typeface="Times New Roman"/>
                <a:ea typeface="+mn-lt"/>
                <a:cs typeface="Times New Roman"/>
              </a:rPr>
              <a:t>   Build an end-to-end prototype that converts a raw insurance claim into an explainable, evidence-supported triage </a:t>
            </a:r>
          </a:p>
          <a:p>
            <a:r>
              <a:rPr lang="en-IN">
                <a:latin typeface="Times New Roman"/>
                <a:ea typeface="+mn-lt"/>
                <a:cs typeface="Times New Roman"/>
              </a:rPr>
              <a:t>recommendation.</a:t>
            </a:r>
            <a:endParaRPr lang="en-IN">
              <a:latin typeface="Times New Roman"/>
              <a:cs typeface="Times New Roman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24828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52" y="173736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72A52"/>
                </a:solidFill>
              </a:rPr>
              <a:t>SYSTEM ARCHITECTURE / METHODOLOGY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800" y="182880"/>
            <a:ext cx="1418548" cy="1432102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0" y="6647688"/>
            <a:ext cx="7955279" cy="146304"/>
          </a:xfrm>
          <a:prstGeom prst="rect">
            <a:avLst/>
          </a:prstGeom>
          <a:solidFill>
            <a:srgbClr val="07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12AC9C-7A04-B4BD-F7F2-FCCD631796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5" t="1439" r="228" b="169"/>
          <a:stretch>
            <a:fillRect/>
          </a:stretch>
        </p:blipFill>
        <p:spPr>
          <a:xfrm>
            <a:off x="154801" y="736881"/>
            <a:ext cx="4755429" cy="593181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99403D-4278-905E-E27A-A8117145BA8D}"/>
              </a:ext>
            </a:extLst>
          </p:cNvPr>
          <p:cNvSpPr txBox="1"/>
          <p:nvPr/>
        </p:nvSpPr>
        <p:spPr>
          <a:xfrm>
            <a:off x="5561925" y="1063772"/>
            <a:ext cx="5152463" cy="47397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u="sng">
                <a:latin typeface="Times New Roman"/>
                <a:cs typeface="Times New Roman"/>
              </a:rPr>
              <a:t>Methodology:</a:t>
            </a:r>
            <a:endParaRPr lang="en-US" sz="2400" u="sng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Ingest</a:t>
            </a:r>
            <a:r>
              <a:rPr lang="en-US" sz="2000">
                <a:latin typeface="Times New Roman"/>
                <a:ea typeface="+mn-lt"/>
                <a:cs typeface="Times New Roman"/>
              </a:rPr>
              <a:t> claim information.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Validate</a:t>
            </a:r>
            <a:r>
              <a:rPr lang="en-US" sz="2000">
                <a:latin typeface="Times New Roman"/>
                <a:ea typeface="+mn-lt"/>
                <a:cs typeface="Times New Roman"/>
              </a:rPr>
              <a:t> and enrich claim data.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Generate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ML fraud probability</a:t>
            </a:r>
            <a:r>
              <a:rPr lang="en-US" sz="2000">
                <a:latin typeface="Times New Roman"/>
                <a:ea typeface="+mn-lt"/>
                <a:cs typeface="Times New Roman"/>
              </a:rPr>
              <a:t>.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Agent determines what evidence needs to be investigated.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Retrieve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similar claims and historical information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.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Perform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policy and consistency checks</a:t>
            </a:r>
            <a:r>
              <a:rPr lang="en-US" sz="2000">
                <a:latin typeface="Times New Roman"/>
                <a:ea typeface="+mn-lt"/>
                <a:cs typeface="Times New Roman"/>
              </a:rPr>
              <a:t>.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Synthesize evidence.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Generate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explainable recommendation</a:t>
            </a:r>
            <a:r>
              <a:rPr lang="en-US" sz="2000">
                <a:latin typeface="Times New Roman"/>
                <a:ea typeface="+mn-lt"/>
                <a:cs typeface="Times New Roman"/>
              </a:rPr>
              <a:t>.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Human adjuster reviews/overrides. </a:t>
            </a:r>
            <a:endParaRPr lang="en-US" sz="2000">
              <a:latin typeface="Times New Roman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r>
              <a:rPr lang="en-US" sz="2000">
                <a:latin typeface="Times New Roman"/>
                <a:ea typeface="+mn-lt"/>
                <a:cs typeface="Times New Roman"/>
              </a:rPr>
              <a:t>Store feedback for </a:t>
            </a:r>
            <a:r>
              <a:rPr lang="en-US" sz="2000" b="1">
                <a:latin typeface="Times New Roman"/>
                <a:ea typeface="+mn-lt"/>
                <a:cs typeface="Times New Roman"/>
              </a:rPr>
              <a:t>future model improvement</a:t>
            </a:r>
            <a:r>
              <a:rPr lang="en-US" sz="2000">
                <a:latin typeface="Times New Roman"/>
                <a:ea typeface="+mn-lt"/>
                <a:cs typeface="Times New Roman"/>
              </a:rPr>
              <a:t>.</a:t>
            </a:r>
            <a:endParaRPr lang="en-US" sz="2000">
              <a:latin typeface="Times New Roman"/>
              <a:cs typeface="Times New Roman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37380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72A52"/>
                </a:solidFill>
                <a:latin typeface="+mj-lt"/>
              </a:rPr>
              <a:t>IMPLEMENTATION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300" y="182879"/>
            <a:ext cx="1526540" cy="154112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885432" y="1435608"/>
            <a:ext cx="4197096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PROTOTYPE / SYSTEM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502274-0C2A-5413-FB75-8DF9762275DE}"/>
              </a:ext>
            </a:extLst>
          </p:cNvPr>
          <p:cNvSpPr txBox="1"/>
          <p:nvPr/>
        </p:nvSpPr>
        <p:spPr>
          <a:xfrm>
            <a:off x="731520" y="1332892"/>
            <a:ext cx="475488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Car Insurance Claim Prediction </a:t>
            </a:r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X Claims | 43 Features 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8F551-B86A-2D6D-E508-E9DAD7BF3F5F}"/>
              </a:ext>
            </a:extLst>
          </p:cNvPr>
          <p:cNvSpPr txBox="1"/>
          <p:nvPr/>
        </p:nvSpPr>
        <p:spPr>
          <a:xfrm>
            <a:off x="731520" y="3506254"/>
            <a:ext cx="47548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ML Model: </a:t>
            </a: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Fraud Classification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 (SHAP)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583FE1-B85A-7D4A-1F55-2E9C723EC51E}"/>
              </a:ext>
            </a:extLst>
          </p:cNvPr>
          <p:cNvSpPr txBox="1"/>
          <p:nvPr/>
        </p:nvSpPr>
        <p:spPr>
          <a:xfrm>
            <a:off x="5334000" y="1278516"/>
            <a:ext cx="3901440" cy="169277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IN" sz="2400" b="1">
                <a:latin typeface="Times New Roman"/>
                <a:cs typeface="Times New Roman"/>
              </a:rPr>
              <a:t>Agentic AI:</a:t>
            </a:r>
            <a:endParaRPr lang="en-I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/>
                <a:cs typeface="Times New Roman"/>
              </a:rPr>
              <a:t>Fraud Scoring Agent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/>
                <a:cs typeface="Times New Roman"/>
              </a:rPr>
              <a:t>Similar Claim Retrieval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/>
                <a:cs typeface="Times New Roman"/>
              </a:rPr>
              <a:t>Policy Verification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000">
                <a:latin typeface="Times New Roman"/>
                <a:cs typeface="Times New Roman"/>
              </a:rPr>
              <a:t>Investigation &amp; Reasoning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AB9AE2-CDB8-32B9-CB0C-D7AD0D7366FE}"/>
              </a:ext>
            </a:extLst>
          </p:cNvPr>
          <p:cNvSpPr txBox="1"/>
          <p:nvPr/>
        </p:nvSpPr>
        <p:spPr>
          <a:xfrm>
            <a:off x="5082540" y="3582024"/>
            <a:ext cx="69723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Development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Claim Input → Fraud Score → Investigation → Recommendation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Human Adjuster Review &amp; Feedback </a:t>
            </a:r>
          </a:p>
          <a:p>
            <a:pPr lvl="0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Status: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Foundation &amp; architecture completed; ML and agentic pipeline under development.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80772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72A52"/>
                </a:solidFill>
                <a:latin typeface="+mj-lt"/>
              </a:rPr>
              <a:t>RESULTS / PROTOTYPE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6700" y="147467"/>
            <a:ext cx="1603603" cy="16189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43984" y="1435608"/>
            <a:ext cx="3310127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SCREENSHOTS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15968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87136E-385E-D0F1-95C8-D08B4C48DA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27" t="-153" r="18316" b="-123"/>
          <a:stretch>
            <a:fillRect/>
          </a:stretch>
        </p:blipFill>
        <p:spPr>
          <a:xfrm>
            <a:off x="-1623" y="604132"/>
            <a:ext cx="4628966" cy="27605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4F6DA9-57EC-219A-1F63-496F0AB22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148" y="3477884"/>
            <a:ext cx="4993884" cy="29405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A9A3CC3-75AF-CCC7-4588-97FFBA54DE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54" t="-1477" r="10000" b="2383"/>
          <a:stretch>
            <a:fillRect/>
          </a:stretch>
        </p:blipFill>
        <p:spPr>
          <a:xfrm>
            <a:off x="4848958" y="3471552"/>
            <a:ext cx="3894314" cy="2939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4623FD-B2EE-6FAC-CA12-3ADE54D729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882" t="775" r="16738" b="9686"/>
          <a:stretch>
            <a:fillRect/>
          </a:stretch>
        </p:blipFill>
        <p:spPr>
          <a:xfrm>
            <a:off x="5236139" y="824284"/>
            <a:ext cx="3662554" cy="163187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" y="73152"/>
            <a:ext cx="2560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64722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72A52"/>
                </a:solidFill>
                <a:latin typeface="+mj-lt"/>
              </a:rPr>
              <a:t>INNOVATION, IMPACT</a:t>
            </a:r>
            <a:r>
              <a:rPr lang="en-IN" sz="3200" b="1">
                <a:solidFill>
                  <a:srgbClr val="072A52"/>
                </a:solidFill>
                <a:latin typeface="+mj-lt"/>
              </a:rPr>
              <a:t>, DELIVERABLES </a:t>
            </a:r>
            <a:r>
              <a:rPr sz="3200" b="1">
                <a:solidFill>
                  <a:srgbClr val="072A52"/>
                </a:solidFill>
                <a:latin typeface="+mj-lt"/>
              </a:rPr>
              <a:t>&amp; FUTURE SCOPE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4500" y="182879"/>
            <a:ext cx="1450340" cy="14641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8952" y="1572768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8632" y="2688336"/>
            <a:ext cx="411175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3803904"/>
            <a:ext cx="39319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177061-2226-0FB8-41DD-B85406AD697A}"/>
              </a:ext>
            </a:extLst>
          </p:cNvPr>
          <p:cNvSpPr txBox="1"/>
          <p:nvPr/>
        </p:nvSpPr>
        <p:spPr>
          <a:xfrm>
            <a:off x="115581" y="1411744"/>
            <a:ext cx="11955148" cy="61247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Times New Roman"/>
                <a:ea typeface="Calibri"/>
                <a:cs typeface="Times New Roman"/>
              </a:rPr>
              <a:t>Innovation:</a:t>
            </a:r>
          </a:p>
          <a:p>
            <a:r>
              <a:rPr lang="en-US" sz="2000">
                <a:latin typeface="Times New Roman"/>
                <a:ea typeface="Calibri"/>
                <a:cs typeface="Times New Roman"/>
              </a:rPr>
              <a:t> </a:t>
            </a:r>
            <a:r>
              <a:rPr lang="en-US" sz="2000">
                <a:latin typeface="Times New Roman"/>
                <a:ea typeface="+mn-lt"/>
                <a:cs typeface="Times New Roman"/>
              </a:rPr>
              <a:t>Traditional System:  Claim → ML Model → Fraud Score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r>
              <a:rPr lang="en-US" sz="2000">
                <a:latin typeface="Times New Roman"/>
                <a:ea typeface="Calibri"/>
                <a:cs typeface="Times New Roman"/>
              </a:rPr>
              <a:t> </a:t>
            </a:r>
            <a:r>
              <a:rPr lang="en-US" sz="2000">
                <a:latin typeface="Times New Roman"/>
                <a:ea typeface="+mn-lt"/>
                <a:cs typeface="Times New Roman"/>
              </a:rPr>
              <a:t>Our System: Claim → ML Score → Agentic Investigation → Evidence → Explanation → Recommendation →    Human Review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endParaRPr lang="en-US" sz="2000" b="1">
              <a:latin typeface="Times New Roman"/>
              <a:ea typeface="Calibri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IMPACT: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>
                <a:latin typeface="Times New Roman"/>
                <a:ea typeface="+mn-lt"/>
                <a:cs typeface="Times New Roman"/>
              </a:rPr>
              <a:t>Reduces manual workload          Faster &amp; consistent claim processing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>
                <a:latin typeface="Times New Roman"/>
                <a:ea typeface="+mn-lt"/>
                <a:cs typeface="Times New Roman"/>
              </a:rPr>
              <a:t>Prioritizes high-risk claims           Helps adjusters make informed decisions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Arial"/>
              <a:buChar char="•"/>
            </a:pPr>
            <a:endParaRPr lang="en-US" sz="2000" b="1">
              <a:latin typeface="Times New Roman"/>
              <a:ea typeface="Calibri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DELIVERABLES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>
                <a:latin typeface="Times New Roman"/>
                <a:ea typeface="+mn-lt"/>
                <a:cs typeface="Times New Roman"/>
              </a:rPr>
              <a:t>EDA &amp; cleaned dataset                Explainability + retrieval module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>
                <a:latin typeface="Times New Roman"/>
                <a:ea typeface="+mn-lt"/>
                <a:cs typeface="Times New Roman"/>
              </a:rPr>
              <a:t>Fraud detection ML model  Agentic investigation pipeline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lvl="1"/>
            <a:endParaRPr lang="en-US" sz="2000" b="1">
              <a:latin typeface="Times New Roman"/>
              <a:ea typeface="Calibri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FUTURE SCOPE</a:t>
            </a:r>
            <a:endParaRPr lang="en-US" sz="2000" b="1">
              <a:latin typeface="Times New Roman"/>
              <a:ea typeface="Calibri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>
                <a:latin typeface="Times New Roman"/>
                <a:ea typeface="+mn-lt"/>
                <a:cs typeface="Times New Roman"/>
              </a:rPr>
              <a:t>OCR &amp; document analysis           Policy database integration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2000">
                <a:latin typeface="Times New Roman"/>
                <a:ea typeface="+mn-lt"/>
                <a:cs typeface="Times New Roman"/>
              </a:rPr>
              <a:t>Accident image analysis    Advanced claimant history</a:t>
            </a:r>
            <a:endParaRPr lang="en-US" sz="2000">
              <a:latin typeface="Times New Roman"/>
              <a:ea typeface="Calibri"/>
              <a:cs typeface="Times New Roman"/>
            </a:endParaRPr>
          </a:p>
          <a:p>
            <a:r>
              <a:rPr lang="en-US">
                <a:ea typeface="Calibri"/>
                <a:cs typeface="Calibri"/>
              </a:rPr>
              <a:t> </a:t>
            </a:r>
          </a:p>
          <a:p>
            <a:r>
              <a:rPr lang="en-US">
                <a:ea typeface="Calibri"/>
                <a:cs typeface="Calibri"/>
              </a:rPr>
              <a:t> </a:t>
            </a:r>
          </a:p>
          <a:p>
            <a:r>
              <a:rPr lang="en-US">
                <a:ea typeface="Calibri"/>
                <a:cs typeface="Calibri"/>
              </a:rPr>
              <a:t> </a:t>
            </a:r>
          </a:p>
          <a:p>
            <a:r>
              <a:rPr lang="en-US">
                <a:ea typeface="Calibri"/>
                <a:cs typeface="Calibri"/>
              </a:rPr>
              <a:t>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665976"/>
            <a:ext cx="7955279" cy="192024"/>
          </a:xfrm>
          <a:prstGeom prst="rect">
            <a:avLst/>
          </a:prstGeom>
          <a:solidFill>
            <a:srgbClr val="072A52"/>
          </a:solidFill>
          <a:ln>
            <a:solidFill>
              <a:srgbClr val="072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55279" y="6665976"/>
            <a:ext cx="4236415" cy="192024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77" y="163509"/>
            <a:ext cx="96926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072A52"/>
                </a:solidFill>
                <a:latin typeface="+mj-lt"/>
              </a:rPr>
              <a:t>CONCLUSION &amp; REFERENCES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804672"/>
            <a:ext cx="658368" cy="41148"/>
          </a:xfrm>
          <a:prstGeom prst="rect">
            <a:avLst/>
          </a:prstGeom>
          <a:solidFill>
            <a:srgbClr val="EF6019"/>
          </a:solidFill>
          <a:ln>
            <a:solidFill>
              <a:srgbClr val="EF60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d29fed93-76c3-4798-81b8-a81e8a8402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2344" y="182879"/>
            <a:ext cx="1429879" cy="14435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4BC014-CF5D-C71B-D74E-39E6CEFAC379}"/>
              </a:ext>
            </a:extLst>
          </p:cNvPr>
          <p:cNvSpPr txBox="1"/>
          <p:nvPr/>
        </p:nvSpPr>
        <p:spPr>
          <a:xfrm>
            <a:off x="508651" y="1278151"/>
            <a:ext cx="10387235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CONCLUSION:</a:t>
            </a:r>
          </a:p>
          <a:p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 proposed system combines ML-based fraud-risk prediction with Agentic AI to transform insurance claims processing from a simple fraud-score system into an evidence-based investigation and triage workflow.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Devender et al., 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“Agentic AI: Insurance Claim Processing System,”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2026.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Khalil et al., 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“Machine Learning Based Method for Insurance Fraud Detection…”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IEEE Access, 2024.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Dhieb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et al., 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“A Secure AI-Driven Architecture for Automated Insurance Systems…”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IEEE Access, 2020.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Urunkar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et al., 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“Fraud Detection and Analysis for Insurance Claim using Machine Learning,”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IEEE SPICES, 2022.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Yao et al., 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“</a:t>
            </a:r>
            <a:r>
              <a:rPr lang="en-US" b="1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ReAct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Synergizing Reasoning and Acting in Language Models,”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2022.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Chen &amp; </a:t>
            </a:r>
            <a:r>
              <a:rPr lang="en-US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Guestrin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“</a:t>
            </a:r>
            <a:r>
              <a:rPr lang="en-US" b="1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XGBoost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: A Scalable Tree Boosting System,”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KDD, 2016.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Lundberg &amp; Lee, </a:t>
            </a:r>
            <a:r>
              <a:rPr lang="en-US" b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“A Unified Approach to Interpreting Model Predictions,”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NeurIPS</a:t>
            </a:r>
            <a:r>
              <a:rPr lang="en-US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, 2017.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>
          <a:solidFill>
            <a:srgbClr val="FFFFFF"/>
          </a:solidFill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Sharvari Deshmukh</dc:creator>
  <cp:keywords/>
  <dc:description>generated using python-pptx</dc:description>
  <cp:lastModifiedBy>Vidhita Bais</cp:lastModifiedBy>
  <cp:revision>1</cp:revision>
  <dcterms:created xsi:type="dcterms:W3CDTF">2013-01-27T09:14:16Z</dcterms:created>
  <dcterms:modified xsi:type="dcterms:W3CDTF">2026-09-15T06:26:06Z</dcterms:modified>
  <cp:category/>
</cp:coreProperties>
</file>