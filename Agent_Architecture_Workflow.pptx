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841f458-9f96-4ad2-558c-2f9f5640f690}">
          <p14:sldIdLst>
            <p14:sldId id="256"/>
          </p14:sldIdLst>
        </p14:section>
        <p14:section name="Approach" id="{bcb26bc2-fca4-0a15-4ea4-49215287c0b3}">
          <p14:sldIdLst>
            <p14:sldId id="257"/>
          </p14:sldIdLst>
        </p14:section>
        <p14:section name="Architecture" id="{4640d7b7-83fc-6e15-9ede-b8bd8280bca4}">
          <p14:sldIdLst>
            <p14:sldId id="258"/>
          </p14:sldIdLst>
        </p14:section>
        <p14:section name="Tools" id="{dd65350a-606d-5191-368c-6f0722f16ce0}">
          <p14:sldIdLst>
            <p14:sldId id="259"/>
          </p14:sldIdLst>
        </p14:section>
        <p14:section name="Safety" id="{d47fbae4-fe51-2ff8-515a-07d00172c41c}">
          <p14:sldIdLst>
            <p14:sldId id="260"/>
          </p14:sldIdLst>
        </p14:section>
        <p14:section name="Workflow" id="{5406e2dc-2297-07db-0a2d-e7700746b15b}">
          <p14:sldIdLst>
            <p14:sldId id="261"/>
          </p14:sldIdLst>
        </p14:section>
        <p14:section name="Results" id="{4b09bb78-ffe2-b0b2-8b3f-6d4bc8c8600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4A6CF7">
              <a:alpha val="8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Agentic AI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4A6CF7"/>
                </a:solidFill>
              </a:rPr>
              <a:t>Autonomous Insurance Claims Triage</a:t>
            </a:r>
            <a:endParaRPr lang="en-US" sz="2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4A6CF7"/>
                </a:solidFill>
              </a:rPr>
              <a:t>&amp; Fraud Assistant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1A8"/>
                </a:solidFill>
              </a:rPr>
              <a:t>Agent Architecture &amp;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4160520"/>
            <a:ext cx="3657600" cy="0"/>
          </a:xfrm>
          <a:prstGeom prst="line">
            <a:avLst/>
          </a:prstGeom>
          <a:noFill/>
          <a:ln w="19050">
            <a:solidFill>
              <a:srgbClr val="4A6CF7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1A8"/>
                </a:solidFill>
              </a:rPr>
              <a:t>Apeksha Sharma  |  Gunjal Mandawkar  |  Vaishnavi Singh  |  Vidhita Bais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1A8"/>
                </a:solidFill>
              </a:rPr>
              <a:t>RBU IDEA Lab  |  Session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</a:rPr>
              <a:t>The Problem &amp; 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F0F2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584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</a:rPr>
              <a:t>Insurance fraud costs billions annually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</a:rPr>
              <a:t>Manual investigation cannot scale to every claim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</a:rPr>
              <a:t>Adjusters need evidence-backed triage, not just a score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F0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B37E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554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</a:rPr>
              <a:t>ML model (LightGBM) detects fraud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</a:rPr>
              <a:t>LLM agent investigates with 6 specialised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</a:rPr>
              <a:t>Human adjuster makes every final decision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</a:rPr>
              <a:t>Three-Layer 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4A6CF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Detection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ML Model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79% Recall, 0.874 AUC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70332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1A8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0" y="370332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6554C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5760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Investigation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Agent + 6 Tools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ReAct Loop, Evidence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70332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1A8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492240" y="370332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36B37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Human Adjuster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Approve / Flag / Request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Agent Architecture — LangGraph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2D32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Ingest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79576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2D32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9576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002536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30552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4A6C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30552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81528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6554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81528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Orchestrator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32504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2D32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032504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855464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83480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2D32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Aggregate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34456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00B8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34456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Synthesize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757416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85432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F758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85432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Guardrails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708392" y="1051560"/>
            <a:ext cx="146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836408" y="1051560"/>
            <a:ext cx="841248" cy="594360"/>
          </a:xfrm>
          <a:prstGeom prst="roundRect">
            <a:avLst>
              <a:gd name="adj" fmla="val 12308"/>
            </a:avLst>
          </a:prstGeom>
          <a:solidFill>
            <a:srgbClr val="36B3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36408" y="1051560"/>
            <a:ext cx="841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Human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130552" y="16916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CF7"/>
                </a:solidFill>
              </a:rPr>
              <a:t>Tool 1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081528" y="16916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554C0"/>
                </a:solidFill>
              </a:rPr>
              <a:t>Tools 2–6 (ReAct)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14884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2D32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4A6CF7">
              <a:alpha val="8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972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🔄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Pattern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Reason + Act loop: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think → pick tool →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observe → repeat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06040" y="214884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2D3250"/>
          </a:solidFill>
          <a:ln/>
        </p:spPr>
      </p:sp>
      <p:sp>
        <p:nvSpPr>
          <p:cNvPr id="37" name="Shape 35"/>
          <p:cNvSpPr/>
          <p:nvPr/>
        </p:nvSpPr>
        <p:spPr>
          <a:xfrm>
            <a:off x="3246120" y="2286000"/>
            <a:ext cx="640080" cy="640080"/>
          </a:xfrm>
          <a:prstGeom prst="ellipse">
            <a:avLst/>
          </a:prstGeom>
          <a:solidFill>
            <a:srgbClr val="6554C0">
              <a:alpha val="80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2461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69748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 to 8 Steps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69748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Agent decides which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tools to call and in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what order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14884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2D3250"/>
          </a:solidFill>
          <a:ln/>
        </p:spPr>
      </p:sp>
      <p:sp>
        <p:nvSpPr>
          <p:cNvPr id="42" name="Shape 40"/>
          <p:cNvSpPr/>
          <p:nvPr/>
        </p:nvSpPr>
        <p:spPr>
          <a:xfrm>
            <a:off x="5394960" y="2286000"/>
            <a:ext cx="640080" cy="640080"/>
          </a:xfrm>
          <a:prstGeom prst="ellipse">
            <a:avLst/>
          </a:prstGeom>
          <a:solidFill>
            <a:srgbClr val="00B8D9">
              <a:alpha val="80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394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84632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Auto-Complete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84632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Required tools run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automatically if the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LLM skips them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03720" y="214884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2D3250"/>
          </a:solidFill>
          <a:ln/>
        </p:spPr>
      </p:sp>
      <p:sp>
        <p:nvSpPr>
          <p:cNvPr id="47" name="Shape 45"/>
          <p:cNvSpPr/>
          <p:nvPr/>
        </p:nvSpPr>
        <p:spPr>
          <a:xfrm>
            <a:off x="7543800" y="2286000"/>
            <a:ext cx="640080" cy="640080"/>
          </a:xfrm>
          <a:prstGeom prst="ellipse">
            <a:avLst/>
          </a:prstGeom>
          <a:solidFill>
            <a:srgbClr val="36B37E">
              <a:alpha val="8000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543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↻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99516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Graceful Fallback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99516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LLM fails → rule-based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decision. No claim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1A8"/>
                </a:solidFill>
              </a:rPr>
              <a:t>goes unprocessed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1A8"/>
                </a:solidFill>
              </a:rPr>
              <a:t>Built with LangGraph  •  Stateful checkpointing enables human-in-the-loop interrupt at any point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</a:rPr>
              <a:t>The Six Specialised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1612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4A6CF7">
              <a:alpha val="1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161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CF7"/>
                </a:solidFill>
              </a:rPr>
              <a:t>Scoring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score_claim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LightGBM fraud probability,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risk band (low/med/high),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red flags that fired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960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1097280"/>
            <a:ext cx="457200" cy="457200"/>
          </a:xfrm>
          <a:prstGeom prst="ellipse">
            <a:avLst/>
          </a:prstGeom>
          <a:solidFill>
            <a:srgbClr val="6554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69080" y="11612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6554C0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69080" y="1161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54C0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explain_fraud_score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TreeSHAP per-feature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importance, top 5 factors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in plain English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109728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03720" y="11612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00B8D9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1161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D9"/>
                </a:solidFill>
              </a:rPr>
              <a:t>Policy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retrieve_policy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Policy details lookup: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real documents or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simulated reference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34440" y="31272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FAB00">
              <a:alpha val="1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3444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verify_policy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9 checks (PV01–PV09):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PASS / FAIL / UNKNOWN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for each condition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2926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3063240"/>
            <a:ext cx="457200" cy="45720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69080" y="31272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36B37E">
              <a:alpha val="15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06908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6B37E"/>
                </a:solidFill>
              </a:rPr>
              <a:t>Retrieval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52044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find_similar_claims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52044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FAISS vector search over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10,793 training claims,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top 5 matches + fraud rates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2926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F758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903720" y="31272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7584A">
              <a:alpha val="1500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0372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History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get_claim_history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Prior claims by the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same policyholder,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250"/>
                </a:solidFill>
              </a:rPr>
              <a:t>contradiction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Evidence Aggregation &amp; Guardrails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2D32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9"/>
                </a:solidFill>
              </a:rPr>
              <a:t>Evidence Aggregation (in code)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Tool statuses: completed / partial / unavailable / failed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Findings and missing information catalogued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Conflicts between evidence sources identified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Reason codes assigned from evidence, not from the LLM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Simulated data clearly labelled in every 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Flag Categories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7584A">
              <a:alpha val="8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584A"/>
                </a:solidFill>
              </a:rPr>
              <a:t>FRAUD_RISK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65960" y="41605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AB00">
              <a:alpha val="8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B00"/>
                </a:solidFill>
              </a:rPr>
              <a:t>POLICY_CONDITION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41605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8B91A8">
              <a:alpha val="8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1A8"/>
                </a:solidFill>
              </a:rPr>
              <a:t>SYSTEM_FAILURE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2D32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584A"/>
                </a:solidFill>
              </a:rPr>
              <a:t>8 Code-Enforced Guardrails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1490472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1463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Never deny a claim (only the human can)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1874520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847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High risk band can never be approved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258568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348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23113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Evidence must trace to its source tool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642616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8348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6151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Medium-band flags need concrete factors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3026664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8348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999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Unsupported fraud flags are replaced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410712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98348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3383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 failure → rule-based fallback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794760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8348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7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Reason codes come from code, not LLM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4178808"/>
            <a:ext cx="256032" cy="256032"/>
          </a:xfrm>
          <a:prstGeom prst="ellipse">
            <a:avLst/>
          </a:prstGeom>
          <a:solidFill>
            <a:srgbClr val="F7584A">
              <a:alpha val="8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98348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84A"/>
                </a:solidFill>
              </a:rPr>
              <a:t>8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415137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Every recommendation requires human review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</a:rPr>
              <a:t>End-to-End Workflow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2D32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Claim Arrives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Structured fields: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vehicle, policy,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incident details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96012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1A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097280"/>
            <a:ext cx="457200" cy="45720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ML Scoring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Probability: 0.25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Risk band: HIGH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3 red flags fired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96012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1A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63640" y="960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097280"/>
            <a:ext cx="457200" cy="457200"/>
          </a:xfrm>
          <a:prstGeom prst="ellipse">
            <a:avLst/>
          </a:prstGeom>
          <a:solidFill>
            <a:srgbClr val="6554C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Agent Investigates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SHAP: fault dominant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Policy check: PASS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3/5 similar = fraud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758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Synthesis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FLAG_FOR_INVESTIGATION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Category: FRAUD_RISK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Grounded rationale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292608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1A8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383280" y="2926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3063240"/>
            <a:ext cx="457200" cy="45720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High band confirmed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Evidence traced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Reason codes set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92608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1A8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263640" y="2926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3063240"/>
            <a:ext cx="457200" cy="45720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Human Review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Adjuster reviews 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Streamlit dashboard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250"/>
                </a:solidFill>
              </a:rPr>
              <a:t>Approves or overrides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1A8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&amp; Key Metrics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CF7"/>
                </a:solidFill>
              </a:rPr>
              <a:t>Model Performance (held-out test set)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2D32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</a:rPr>
              <a:t>0.874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ROC-AUC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2D32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</a:rPr>
              <a:t>79%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Recall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2D32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</a:rPr>
              <a:t>0.252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PR-AUC (4x random)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2D32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</a:rPr>
              <a:t>19.1%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False-Positive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2D32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54C0"/>
                </a:solidFill>
              </a:rPr>
              <a:t>Agent Evaluation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100% consistency across repeated runs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0 errors across entire evaluation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Near-perfect LLM-as-judge rationale 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Evaluated on qwen2.5:72b (free, open-source)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2D32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B37E"/>
                </a:solidFill>
              </a:rPr>
              <a:t>Safety &amp; Reliability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8 code-enforced guardrails (not just prompts)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Graceful degradation: rule-based fallback at $0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Evidence grounding removes hallucinations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Human adjuster makes every final decision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006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LightGBM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6878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6878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LangGraph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5750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85750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Ollama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4622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04622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FAISS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3494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3494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Streamlit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2366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366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SHAP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12380" y="42519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4A6CF7">
              <a:alpha val="25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1238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CF7"/>
                </a:solidFill>
              </a:rPr>
              <a:t>pytest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1A8"/>
                </a:solidFill>
              </a:rPr>
              <a:t>All free and open-source  •  Runs on CPU  •  LLM evaluation on NVIDIA B200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Detect">
  <a:themeElements>
    <a:clrScheme name="FraudDetect">
      <a:dk1>
        <a:srgbClr val="1A1F36"/>
      </a:dk1>
      <a:lt1>
        <a:srgbClr val="FFFFFF"/>
      </a:lt1>
      <a:dk2>
        <a:srgbClr val="2D3250"/>
      </a:dk2>
      <a:lt2>
        <a:srgbClr val="F0F2F8"/>
      </a:lt2>
      <a:accent1>
        <a:srgbClr val="4A6CF7"/>
      </a:accent1>
      <a:accent2>
        <a:srgbClr val="F7584A"/>
      </a:accent2>
      <a:accent3>
        <a:srgbClr val="36B37E"/>
      </a:accent3>
      <a:accent4>
        <a:srgbClr val="FFAB00"/>
      </a:accent4>
      <a:accent5>
        <a:srgbClr val="6554C0"/>
      </a:accent5>
      <a:accent6>
        <a:srgbClr val="00B8D9"/>
      </a:accent6>
      <a:hlink>
        <a:srgbClr val="4A6CF7"/>
      </a:hlink>
      <a:folHlink>
        <a:srgbClr val="6554C0"/>
      </a:folHlink>
    </a:clrScheme>
    <a:fontScheme name="FraudDetec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Agentic AI Insurance Fraud Detection</dc:subject>
  <dc:creator>Vidhita Bais</dc:creator>
  <cp:lastModifiedBy>Vidhita Bais</cp:lastModifiedBy>
  <cp:revision>1</cp:revision>
  <dcterms:created xsi:type="dcterms:W3CDTF">2026-10-21T08:58:53Z</dcterms:created>
  <dcterms:modified xsi:type="dcterms:W3CDTF">2026-10-21T08:58:53Z</dcterms:modified>
</cp:coreProperties>
</file>